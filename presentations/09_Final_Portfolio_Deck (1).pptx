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12191695" cy="45720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1F6FB5"/>
                </a:solidFill>
                <a:latin typeface="Calibri"/>
              </a:rPr>
              <a:t>FINAL PORTFOLIO DECK ·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97280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200" b="1" i="0">
                <a:solidFill>
                  <a:srgbClr val="0B2A4A"/>
                </a:solidFill>
                <a:latin typeface="Calibri"/>
              </a:rPr>
              <a:t>Customer Segmentation &amp;
CRM Intelligence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 i="1">
                <a:solidFill>
                  <a:srgbClr val="555B66"/>
                </a:solidFill>
                <a:latin typeface="Calibri"/>
              </a:rPr>
              <a:t>From raw transactions to an Agentic AI decision system —
in 9 phases, on a real-world retail dataset.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Calibri"/>
              </a:rPr>
              <a:t>Avelabs · Data Analyst / Data Scientist track  ·  UCI Online Retail (Dec 2010 – Dec 2011)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WHY THIS PROJECT —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73152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0B2A4A"/>
                </a:solidFill>
                <a:latin typeface="Calibri"/>
              </a:rPr>
              <a:t>Built to mirror an Avelabs client engagement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4864" cy="4572000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1" i="0">
                <a:solidFill>
                  <a:srgbClr val="0B2A4A"/>
                </a:solidFill>
                <a:latin typeface="Calibri"/>
              </a:rPr>
              <a:t>Not a coding exercise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555B66"/>
                </a:solidFill>
                <a:latin typeface="Calibri"/>
              </a:rPr>
              <a:t>Structured as a consulting engagement with stakeholders, KPIs, hypothesis register, and decision-system thinking.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7180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1" i="0">
                <a:solidFill>
                  <a:srgbClr val="0B2A4A"/>
                </a:solidFill>
                <a:latin typeface="Calibri"/>
              </a:rPr>
              <a:t>Avelabs-shaped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2900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555B66"/>
                </a:solidFill>
                <a:latin typeface="Calibri"/>
              </a:rPr>
              <a:t>Customer Analytics · CRM Intelligence · ML Segmentation · Agentic AI — the exact stack Avelabs delivers to retail, fashion, beauty and platform clients.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1" i="0">
                <a:solidFill>
                  <a:srgbClr val="0B2A4A"/>
                </a:solidFill>
                <a:latin typeface="Calibri"/>
              </a:rPr>
              <a:t>Output is a decision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3776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555B66"/>
                </a:solidFill>
                <a:latin typeface="Calibri"/>
              </a:rPr>
              <a:t>Not a model. The deliverable wraps analytics into named campaigns, churn alerts, and revenue-opportunity quantification any CMO can act 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55B66"/>
                </a:solidFill>
                <a:latin typeface="Calibri"/>
              </a:rPr>
              <a:t>Customer Segmentation &amp; CRM Intelligence Platform · Final Portfolio · v1.0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THE 9-PHASE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73152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 i="0">
                <a:solidFill>
                  <a:srgbClr val="0B2A4A"/>
                </a:solidFill>
                <a:latin typeface="Calibri"/>
              </a:rPr>
              <a:t>Business framing → analytics → ML → Agentic AI → application package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137160" cy="502920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5120640" cy="5029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5029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B2A4A"/>
                </a:solidFill>
                <a:latin typeface="Calibri"/>
              </a:rPr>
              <a:t>1. Business Understanding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5029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50" b="0" i="1">
                <a:solidFill>
                  <a:srgbClr val="555B66"/>
                </a:solidFill>
                <a:latin typeface="Calibri"/>
              </a:rPr>
              <a:t>Stakeholders · KPIs · 7 hypotheses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137160" cy="502920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148840"/>
            <a:ext cx="5120640" cy="5029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194560"/>
            <a:ext cx="5029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B2A4A"/>
                </a:solidFill>
                <a:latin typeface="Calibri"/>
              </a:rPr>
              <a:t>2. Dataset Understanding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423160"/>
            <a:ext cx="5029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50" b="0" i="1">
                <a:solidFill>
                  <a:srgbClr val="555B66"/>
                </a:solidFill>
                <a:latin typeface="Calibri"/>
              </a:rPr>
              <a:t>Cleaned 392K rows · 4,338 customers · £8.89M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743200"/>
            <a:ext cx="137160" cy="502920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743200"/>
            <a:ext cx="5120640" cy="5029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788920"/>
            <a:ext cx="5029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B2A4A"/>
                </a:solidFill>
                <a:latin typeface="Calibri"/>
              </a:rPr>
              <a:t>3. Exploratory Data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017520"/>
            <a:ext cx="5029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50" b="0" i="1">
                <a:solidFill>
                  <a:srgbClr val="555B66"/>
                </a:solidFill>
                <a:latin typeface="Calibri"/>
              </a:rPr>
              <a:t>H1, H2, H4 confirmed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37560"/>
            <a:ext cx="137160" cy="502920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337560"/>
            <a:ext cx="5120640" cy="5029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383280"/>
            <a:ext cx="5029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B2A4A"/>
                </a:solidFill>
                <a:latin typeface="Calibri"/>
              </a:rPr>
              <a:t>4. Customer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611880"/>
            <a:ext cx="5029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50" b="0" i="1">
                <a:solidFill>
                  <a:srgbClr val="555B66"/>
                </a:solidFill>
                <a:latin typeface="Calibri"/>
              </a:rPr>
              <a:t>CLV · cohort retention · H3 at 11.9×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931920"/>
            <a:ext cx="137160" cy="502920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3931920"/>
            <a:ext cx="5120640" cy="5029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977640"/>
            <a:ext cx="5029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B2A4A"/>
                </a:solidFill>
                <a:latin typeface="Calibri"/>
              </a:rPr>
              <a:t>5. RFM Segmentation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206240"/>
            <a:ext cx="5029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50" b="0" i="1">
                <a:solidFill>
                  <a:srgbClr val="555B66"/>
                </a:solidFill>
                <a:latin typeface="Calibri"/>
              </a:rPr>
              <a:t>9 segments · H5 · £1.06M recoverable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554480"/>
            <a:ext cx="137160" cy="502920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0" y="1554480"/>
            <a:ext cx="5120640" cy="5029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1600200"/>
            <a:ext cx="5029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B2A4A"/>
                </a:solidFill>
                <a:latin typeface="Calibri"/>
              </a:rPr>
              <a:t>6. ML Segmentation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1828800"/>
            <a:ext cx="5029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50" b="0" i="1">
                <a:solidFill>
                  <a:srgbClr val="555B66"/>
                </a:solidFill>
                <a:latin typeface="Calibri"/>
              </a:rPr>
              <a:t>5 personas · K-means · PCA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148840"/>
            <a:ext cx="137160" cy="502920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0" y="2148840"/>
            <a:ext cx="5120640" cy="5029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2194560"/>
            <a:ext cx="5029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B2A4A"/>
                </a:solidFill>
                <a:latin typeface="Calibri"/>
              </a:rPr>
              <a:t>7. AI Marketing 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2423160"/>
            <a:ext cx="5029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50" b="0" i="1">
                <a:solidFill>
                  <a:srgbClr val="555B66"/>
                </a:solidFill>
                <a:latin typeface="Calibri"/>
              </a:rPr>
              <a:t>Agentic AI · system design · prototype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2743200"/>
            <a:ext cx="137160" cy="502920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0" y="2743200"/>
            <a:ext cx="5120640" cy="5029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20840" y="2788920"/>
            <a:ext cx="5029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B2A4A"/>
                </a:solidFill>
                <a:latin typeface="Calibri"/>
              </a:rPr>
              <a:t>8. Resume Integration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3017520"/>
            <a:ext cx="5029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50" b="0" i="1">
                <a:solidFill>
                  <a:srgbClr val="555B66"/>
                </a:solidFill>
                <a:latin typeface="Calibri"/>
              </a:rPr>
              <a:t>Bullets · LinkedIn · STAR · EN+KR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3337560"/>
            <a:ext cx="137160" cy="502920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0" y="3337560"/>
            <a:ext cx="5120640" cy="5029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20840" y="3383280"/>
            <a:ext cx="5029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B2A4A"/>
                </a:solidFill>
                <a:latin typeface="Calibri"/>
              </a:rPr>
              <a:t>9. Application Package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20840" y="3611880"/>
            <a:ext cx="5029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50" b="0" i="1">
                <a:solidFill>
                  <a:srgbClr val="555B66"/>
                </a:solidFill>
                <a:latin typeface="Calibri"/>
              </a:rPr>
              <a:t>Resume PDF · master deck · interview kit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55B66"/>
                </a:solidFill>
                <a:latin typeface="Calibri"/>
              </a:rPr>
              <a:t>Customer Segmentation &amp; CRM Intelligence Platform · Final Portfolio · v1.0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HEADLINE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73152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0B2A4A"/>
                </a:solidFill>
                <a:latin typeface="Calibri"/>
              </a:rPr>
              <a:t>5 numbers that tell the whole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2240280" cy="24688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224028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11.9×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22402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Fast 2nd-buyer CLV multiplier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91840"/>
            <a:ext cx="20574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50" b="0" i="1">
                <a:solidFill>
                  <a:srgbClr val="FFFFFF"/>
                </a:solidFill>
                <a:latin typeface="Calibri"/>
              </a:rPr>
              <a:t>vs. one-time buyers (predicted 3×, observed 11.9×)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8920" y="1691640"/>
            <a:ext cx="2240280" cy="24688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1920240"/>
            <a:ext cx="224028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£1.06M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834640"/>
            <a:ext cx="22402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Recoverable revenue pool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3291840"/>
            <a:ext cx="20574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50" b="0" i="1">
                <a:solidFill>
                  <a:srgbClr val="FFFFFF"/>
                </a:solidFill>
                <a:latin typeface="Calibri"/>
              </a:rPr>
              <a:t>in dormant-but-loyal customers (1,170 accounts)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0" y="1691640"/>
            <a:ext cx="2240280" cy="24688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1920240"/>
            <a:ext cx="224028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689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834640"/>
            <a:ext cx="22402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VIP B2B accounts surfaced by 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291840"/>
            <a:ext cx="20574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50" b="0" i="1">
                <a:solidFill>
                  <a:srgbClr val="FFFFFF"/>
                </a:solidFill>
                <a:latin typeface="Calibri"/>
              </a:rPr>
              <a:t>16% of base · 60% of revenue · 13× more than manual top-50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1691640"/>
            <a:ext cx="2240280" cy="24688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60" y="1920240"/>
            <a:ext cx="224028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0.72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2834640"/>
            <a:ext cx="22402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Gini coefficient · top 20% = 75% of revenue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3291840"/>
            <a:ext cx="20574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50" b="0" i="1">
                <a:solidFill>
                  <a:srgbClr val="FFFFFF"/>
                </a:solidFill>
                <a:latin typeface="Calibri"/>
              </a:rPr>
              <a:t>re-framed the entire CRM strategy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84080" y="1691640"/>
            <a:ext cx="2240280" cy="24688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0" y="1920240"/>
            <a:ext cx="224028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2834640"/>
            <a:ext cx="22402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Business-captioned hero charts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3291840"/>
            <a:ext cx="20574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50" b="0" i="1">
                <a:solidFill>
                  <a:srgbClr val="FFFFFF"/>
                </a:solidFill>
                <a:latin typeface="Calibri"/>
              </a:rPr>
              <a:t>every visual tied to a CRM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55B66"/>
                </a:solidFill>
                <a:latin typeface="Calibri"/>
              </a:rPr>
              <a:t>Customer Segmentation &amp; CRM Intelligence Platform · Final Portfolio · v1.0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PHASE 1 — THE STRATEGIC RE-FRAMING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73152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 i="1">
                <a:solidFill>
                  <a:srgbClr val="0B2A4A"/>
                </a:solidFill>
                <a:latin typeface="Calibri"/>
              </a:rPr>
              <a:t>"Not an acquisition problem. A customer intelligence problem."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0B2A4A"/>
                </a:solidFill>
                <a:latin typeface="Calibri"/>
              </a:rPr>
              <a:t>The original brief asked for customer acquisition. Lorenz-curve analysis showed: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0B2A4A"/>
                </a:solidFill>
                <a:latin typeface="Calibri"/>
              </a:rPr>
              <a:t>• Top 1% of customers contribute 31.8% of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0B2A4A"/>
                </a:solidFill>
                <a:latin typeface="Calibri"/>
              </a:rPr>
              <a:t>• Top 20% contribute 75% of revenue (Gini 0.72)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0B2A4A"/>
                </a:solidFill>
                <a:latin typeface="Calibri"/>
              </a:rPr>
              <a:t>• A churn event in the top 1% is a multi-£10k revenue line item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76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1F6FB5"/>
                </a:solidFill>
                <a:latin typeface="Calibri"/>
              </a:rPr>
              <a:t>Re-framed the engagement before writing a line of code: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148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 i="1">
                <a:solidFill>
                  <a:srgbClr val="0B2A4A"/>
                </a:solidFill>
                <a:latin typeface="Calibri"/>
              </a:rPr>
              <a:t>→ From "spend more on ads" to "extract more value from existing customers."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55B66"/>
                </a:solidFill>
                <a:latin typeface="Calibri"/>
              </a:rPr>
              <a:t>This single re-framing changed the scope from a one-off campaign to a CRM intelligence platform.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55B66"/>
                </a:solidFill>
                <a:latin typeface="Calibri"/>
              </a:rPr>
              <a:t>Customer Segmentation &amp; CRM Intelligence Platform · Final Portfolio · v1.0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PHASE 2 — DATA QUALITY DISCIPLINE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73152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 i="0">
                <a:solidFill>
                  <a:srgbClr val="0B2A4A"/>
                </a:solidFill>
                <a:latin typeface="Calibri"/>
              </a:rPr>
              <a:t>We dropped 27% of rows. We kept 99.2% of customers.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0B2A4A"/>
                </a:solidFill>
                <a:latin typeface="Calibri"/>
              </a:rPr>
              <a:t>5 documented cleaning steps · every drop tied to a business rule: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3200400" cy="4572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21992"/>
            <a:ext cx="3108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1. Drop cancellations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39" y="2103120"/>
            <a:ext cx="7955279" cy="4572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2221992"/>
            <a:ext cx="7772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0B2A4A"/>
                </a:solidFill>
                <a:latin typeface="Calibri"/>
              </a:rPr>
              <a:t>9,288 rows (InvoiceNo starts with C)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06040"/>
            <a:ext cx="3200400" cy="4572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24912"/>
            <a:ext cx="3108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2. Drop missing CustomerID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39" y="2606040"/>
            <a:ext cx="7955279" cy="4572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0" y="2724912"/>
            <a:ext cx="7772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0B2A4A"/>
                </a:solidFill>
                <a:latin typeface="Calibri"/>
              </a:rPr>
              <a:t>133,361 rows (guest checkouts — not assignable to CRM)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108960"/>
            <a:ext cx="3200400" cy="4572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227832"/>
            <a:ext cx="3108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3. Keep Quantity &gt; 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39" y="3108960"/>
            <a:ext cx="7955279" cy="4572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0" y="3227832"/>
            <a:ext cx="7772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0B2A4A"/>
                </a:solidFill>
                <a:latin typeface="Calibri"/>
              </a:rPr>
              <a:t>residual returns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611880"/>
            <a:ext cx="3200400" cy="4572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730752"/>
            <a:ext cx="3108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4. Keep UnitPrice &gt; 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49039" y="3611880"/>
            <a:ext cx="7955279" cy="4572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31920" y="3730752"/>
            <a:ext cx="7772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0B2A4A"/>
                </a:solidFill>
                <a:latin typeface="Calibri"/>
              </a:rPr>
              <a:t>40 rows (free samples + bad-debt adjustments)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114800"/>
            <a:ext cx="3200400" cy="4572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233672"/>
            <a:ext cx="3108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5. Drop duplicates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49039" y="4114800"/>
            <a:ext cx="7955279" cy="4572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0" y="4233672"/>
            <a:ext cx="7772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0B2A4A"/>
                </a:solidFill>
                <a:latin typeface="Calibri"/>
              </a:rPr>
              <a:t>5,192 rows (double-scans / system replay)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9377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F6FB5"/>
                </a:solidFill>
                <a:latin typeface="Calibri"/>
              </a:rPr>
              <a:t>Result: 541,909 raw → 392,692 cleaned · 4,338 customers · £8.89M revenue retained (91% of raw).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4864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555B66"/>
                </a:solidFill>
                <a:latin typeface="Calibri"/>
              </a:rPr>
              <a:t>Outliers (Quantity up to ±80,995) were KEPT — they are real B2B-scale activity, not data errors. That judgment call directly enabled Hypothesis H4 (hidden B2B) in Phase 6.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55B66"/>
                </a:solidFill>
                <a:latin typeface="Calibri"/>
              </a:rPr>
              <a:t>Customer Segmentation &amp; CRM Intelligence Platform · Final Portfolio · v1.0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PHASE 3 — EDA · REVENUE CONCENTRATION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73152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7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 i="0">
                <a:solidFill>
                  <a:srgbClr val="0B2A4A"/>
                </a:solidFill>
                <a:latin typeface="Calibri"/>
              </a:rPr>
              <a:t>Top 20% of customers drive 75% of revenue · Gini 0.72</a:t>
            </a:r>
          </a:p>
        </p:txBody>
      </p:sp>
      <p:pic>
        <p:nvPicPr>
          <p:cNvPr id="6" name="Picture 5" descr="chart1_revenue_concen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858000" cy="437313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89520" y="1554480"/>
            <a:ext cx="4297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C8553D"/>
                </a:solidFill>
                <a:latin typeface="Calibri"/>
              </a:rPr>
              <a:t>H1 → CONFIRMED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2011680"/>
            <a:ext cx="4297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0B2A4A"/>
                </a:solidFill>
                <a:latin typeface="Calibri"/>
              </a:rPr>
              <a:t>H2 → CONFIRMED (Intl AOV 1.9× UK)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377440"/>
            <a:ext cx="4297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0B2A4A"/>
                </a:solidFill>
                <a:latin typeface="Calibri"/>
              </a:rPr>
              <a:t>H4 → CONFIRMED (hidden B2B)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743200"/>
            <a:ext cx="4297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0B2A4A"/>
                </a:solidFill>
                <a:latin typeface="Calibri"/>
              </a:rPr>
              <a:t>H6 → DIRECTIONAL (Q4 dominates)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657600"/>
            <a:ext cx="4297680" cy="2286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0B2A4A"/>
                </a:solidFill>
                <a:latin typeface="Calibri"/>
              </a:rPr>
              <a:t>The CMO read-out:
• Defend the top 20% — they ARE the business.
• Build a VIP program — non-optional.
• Stop spraying budget evenly across the base.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55B66"/>
                </a:solidFill>
                <a:latin typeface="Calibri"/>
              </a:rPr>
              <a:t>Customer Segmentation &amp; CRM Intelligence Platform · Final Portfolio · v1.0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PHASE 4 — THE 11.9×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73152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8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 i="0">
                <a:solidFill>
                  <a:srgbClr val="0B2A4A"/>
                </a:solidFill>
                <a:latin typeface="Calibri"/>
              </a:rPr>
              <a:t>Fast 2nd-purchasers have 11.9× the CLV of one-timers</a:t>
            </a:r>
          </a:p>
        </p:txBody>
      </p:sp>
      <p:pic>
        <p:nvPicPr>
          <p:cNvPr id="6" name="Picture 5" descr="chart9_h3_fast_repeat_cl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858000" cy="3847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89520" y="1554480"/>
            <a:ext cx="4297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555B66"/>
                </a:solidFill>
                <a:latin typeface="Calibri"/>
              </a:rPr>
              <a:t>Predicted: 3×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965960"/>
            <a:ext cx="4297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C8553D"/>
                </a:solidFill>
                <a:latin typeface="Calibri"/>
              </a:rPr>
              <a:t>Observed: 11.9×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697480"/>
            <a:ext cx="4297680" cy="2286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0B2A4A"/>
                </a:solidFill>
                <a:latin typeface="Calibri"/>
              </a:rPr>
              <a:t>Why this matters:
Shifting 100 one-timers into the Fast cohort = ~£448k incremental revenue.
The 30-day post-purchase nurture is the single highest-leverage CRM lever in the project.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55B66"/>
                </a:solidFill>
                <a:latin typeface="Calibri"/>
              </a:rPr>
              <a:t>Customer Segmentation &amp; CRM Intelligence Platform · Final Portfolio · v1.0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PHASE 4 — COHORT RETENTION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73152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9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 i="0">
                <a:solidFill>
                  <a:srgbClr val="0B2A4A"/>
                </a:solidFill>
                <a:latin typeface="Calibri"/>
              </a:rPr>
              <a:t>60-75% of customers go dormant within 12 months</a:t>
            </a:r>
          </a:p>
        </p:txBody>
      </p:sp>
      <p:pic>
        <p:nvPicPr>
          <p:cNvPr id="6" name="Picture 5" descr="chart10_cohort_reten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64112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263640"/>
            <a:ext cx="114300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1">
                <a:solidFill>
                  <a:srgbClr val="555B66"/>
                </a:solidFill>
                <a:latin typeface="Calibri"/>
              </a:rPr>
              <a:t>Surprising finding: Dec 2010 cohort retains BETTER than 2011 cohorts at month 12 (27% vs 10-25%). Gift-season buyers aren't worse — they need a different nurture path.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55B66"/>
                </a:solidFill>
                <a:latin typeface="Calibri"/>
              </a:rPr>
              <a:t>Customer Segmentation &amp; CRM Intelligence Platform · Final Portfolio · v1.0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PHASE 5 — RFM CRM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73152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10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 i="0">
                <a:solidFill>
                  <a:srgbClr val="0B2A4A"/>
                </a:solidFill>
                <a:latin typeface="Calibri"/>
              </a:rPr>
              <a:t>9 segments · 9 named campaigns · 1 £1.06M recoverable pool</a:t>
            </a:r>
          </a:p>
        </p:txBody>
      </p:sp>
      <p:pic>
        <p:nvPicPr>
          <p:cNvPr id="6" name="Picture 5" descr="chart15_h5_recoverable_po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7772400" cy="42652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0" y="155448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C8553D"/>
                </a:solidFill>
                <a:latin typeface="Calibri"/>
              </a:rPr>
              <a:t>H5 → CONFIRMED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011680"/>
            <a:ext cx="3657600" cy="3200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0B2A4A"/>
                </a:solidFill>
                <a:latin typeface="Calibri"/>
              </a:rPr>
              <a:t>1,170 customers in At-Risk + Cannot Lose Them
£1.06M historical revenue
11.9% of total revenue
Even 20% recovery = ~£210k recovered.
Reallocate budget from Hibernating (5.2% rev, low recovery) to Cannot Lose Them (5.1% rev, proven loyalty).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55B66"/>
                </a:solidFill>
                <a:latin typeface="Calibri"/>
              </a:rPr>
              <a:t>Customer Segmentation &amp; CRM Intelligence Platform · Final Portfolio · v1.0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PHASE 6 — ML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73152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11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0B2A4A"/>
                </a:solidFill>
                <a:latin typeface="Calibri"/>
              </a:rPr>
              <a:t>5 personas · K-means · K=5 chosen for interpretability, not silhouette</a:t>
            </a:r>
          </a:p>
        </p:txBody>
      </p:sp>
      <p:pic>
        <p:nvPicPr>
          <p:cNvPr id="6" name="Picture 5" descr="chart19_persona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49182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263640"/>
            <a:ext cx="114300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1">
                <a:solidFill>
                  <a:srgbClr val="1F6FB5"/>
                </a:solidFill>
                <a:latin typeface="Calibri"/>
              </a:rPr>
              <a:t>VIP B2B Accounts: 689 customers (16% of base) drive 60% of revenue — 13× larger than manual top-50.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55B66"/>
                </a:solidFill>
                <a:latin typeface="Calibri"/>
              </a:rPr>
              <a:t>Customer Segmentation &amp; CRM Intelligence Platform · Final Portfolio · v1.0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PHASE 6 — PERSONA FINGERPRINTS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73152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12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 i="0">
                <a:solidFill>
                  <a:srgbClr val="0B2A4A"/>
                </a:solidFill>
                <a:latin typeface="Calibri"/>
              </a:rPr>
              <a:t>Each persona has a distinct multi-dimensional signature</a:t>
            </a:r>
          </a:p>
        </p:txBody>
      </p:sp>
      <p:pic>
        <p:nvPicPr>
          <p:cNvPr id="6" name="Picture 5" descr="chart20_persona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143000"/>
            <a:ext cx="4774922" cy="5120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0936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1">
                <a:solidFill>
                  <a:srgbClr val="555B66"/>
                </a:solidFill>
                <a:latin typeface="Calibri"/>
              </a:rPr>
              <a:t>VIP B2B = high on EVERY dimension. Dormant = low on every. The radar makes them visually unmistakable.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55B66"/>
                </a:solidFill>
                <a:latin typeface="Calibri"/>
              </a:rPr>
              <a:t>Customer Segmentation &amp; CRM Intelligence Platform · Final Portfolio · v1.0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PHASE 7 — AGENTIC AI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73152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13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 i="1">
                <a:solidFill>
                  <a:srgbClr val="0B2A4A"/>
                </a:solidFill>
                <a:latin typeface="Calibri"/>
              </a:rPr>
              <a:t>The LLM renders. The tools decide. No fabrication.</a:t>
            </a:r>
          </a:p>
        </p:txBody>
      </p:sp>
      <p:pic>
        <p:nvPicPr>
          <p:cNvPr id="6" name="Picture 5" descr="chart22_agent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64518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0936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1">
                <a:solidFill>
                  <a:srgbClr val="555B66"/>
                </a:solidFill>
                <a:latin typeface="Calibri"/>
              </a:rPr>
              <a:t>4 deterministic tools feed an LLM rendering layer. Hallucination eliminated by construction — not by hoping.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55B66"/>
                </a:solidFill>
                <a:latin typeface="Calibri"/>
              </a:rPr>
              <a:t>Customer Segmentation &amp; CRM Intelligence Platform · Final Portfolio · v1.0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PHASE 7 — AGENT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73152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14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 i="0">
                <a:solidFill>
                  <a:srgbClr val="0B2A4A"/>
                </a:solidFill>
                <a:latin typeface="Calibri"/>
              </a:rPr>
              <a:t>Sample executive brief generated for VIP B2B Accounts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F6FB5"/>
                </a:solidFill>
                <a:latin typeface="Calibri"/>
              </a:rPr>
              <a:t>Who they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554480"/>
            <a:ext cx="868680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0B2A4A"/>
                </a:solidFill>
                <a:latin typeface="Calibri"/>
              </a:rPr>
              <a:t>689 customers (15.9% of base). Avg historical value £7,755 · 14 orders avg · 11 days recency.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F6FB5"/>
                </a:solidFill>
                <a:latin typeface="Calibri"/>
              </a:rPr>
              <a:t>Why they matter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468880"/>
            <a:ext cx="868680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0B2A4A"/>
                </a:solidFill>
                <a:latin typeface="Calibri"/>
              </a:rPr>
              <a:t>£5.34M (60.1% of total revenue). The CRM budget MUST respect this concentration.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8328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F6FB5"/>
                </a:solidFill>
                <a:latin typeface="Calibri"/>
              </a:rPr>
              <a:t>Top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383280"/>
            <a:ext cx="868680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0B2A4A"/>
                </a:solidFill>
                <a:latin typeface="Calibri"/>
              </a:rPr>
              <a:t>Customers crossing 30-day dormancy line surfaced with top-5 to recover — names + £-figures.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9768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F6FB5"/>
                </a:solidFill>
                <a:latin typeface="Calibri"/>
              </a:rPr>
              <a:t>Recommended campaign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4297680"/>
            <a:ext cx="868680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0B2A4A"/>
                </a:solidFill>
                <a:latin typeface="Calibri"/>
              </a:rPr>
              <a:t>Named Account Program · highest priority · AM + personalized email · highest per-customer spend.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21208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F6FB5"/>
                </a:solidFill>
                <a:latin typeface="Calibri"/>
              </a:rPr>
              <a:t>KPIs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5212080"/>
            <a:ext cx="868680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0B2A4A"/>
                </a:solidFill>
                <a:latin typeface="Calibri"/>
              </a:rPr>
              <a:t>Account retention rate · revenue per account YoY · NPS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55B66"/>
                </a:solidFill>
                <a:latin typeface="Calibri"/>
              </a:rPr>
              <a:t>Customer Segmentation &amp; CRM Intelligence Platform · Final Portfolio · v1.0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BUSINESS RECOMMENDATIONS — Q1 BUDGET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73152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15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 i="0">
                <a:solidFill>
                  <a:srgbClr val="0B2A4A"/>
                </a:solidFill>
                <a:latin typeface="Calibri"/>
              </a:rPr>
              <a:t>Where the next-quarter CRM budget should go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640080" cy="4114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18488"/>
            <a:ext cx="6400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Rank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554480"/>
            <a:ext cx="3017520" cy="4114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18488"/>
            <a:ext cx="30175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Persona / Segment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554480"/>
            <a:ext cx="5943600" cy="4114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1618488"/>
            <a:ext cx="59436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0" y="1554480"/>
            <a:ext cx="2286000" cy="4114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0" y="1618488"/>
            <a:ext cx="22860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Budget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965960"/>
            <a:ext cx="640080" cy="5486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130552"/>
            <a:ext cx="493776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0B2A4A"/>
                </a:solidFill>
                <a:latin typeface="Calibri"/>
              </a:rPr>
              <a:t>🔴 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1965960"/>
            <a:ext cx="3017520" cy="5486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0432" y="2130552"/>
            <a:ext cx="2871216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0B2A4A"/>
                </a:solidFill>
                <a:latin typeface="Calibri"/>
              </a:rPr>
              <a:t>VIP B2B Accounts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1965960"/>
            <a:ext cx="5943600" cy="5486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87952" y="2130552"/>
            <a:ext cx="5797296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0B2A4A"/>
                </a:solidFill>
                <a:latin typeface="Calibri"/>
              </a:rPr>
              <a:t>Named Account Program — AM outreach, custom pricing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0" y="1965960"/>
            <a:ext cx="2286000" cy="5486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31552" y="2130552"/>
            <a:ext cx="2139696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0B2A4A"/>
                </a:solidFill>
                <a:latin typeface="Calibri"/>
              </a:rPr>
              <a:t>Highest per-cust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514600"/>
            <a:ext cx="6400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2679192"/>
            <a:ext cx="493776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0B2A4A"/>
                </a:solidFill>
                <a:latin typeface="Calibri"/>
              </a:rPr>
              <a:t>🔴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2514600"/>
            <a:ext cx="30175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0432" y="2679192"/>
            <a:ext cx="2871216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0B2A4A"/>
                </a:solidFill>
                <a:latin typeface="Calibri"/>
              </a:rPr>
              <a:t>Engaged New Buyers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2514600"/>
            <a:ext cx="59436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87952" y="2679192"/>
            <a:ext cx="5797296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0B2A4A"/>
                </a:solidFill>
                <a:latin typeface="Calibri"/>
              </a:rPr>
              <a:t>30-Day Nurture (H3 — 11.9× CLV multiplier)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0" y="2514600"/>
            <a:ext cx="22860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31552" y="2679192"/>
            <a:ext cx="2139696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0B2A4A"/>
                </a:solidFill>
                <a:latin typeface="Calibri"/>
              </a:rPr>
              <a:t>Medium · highest aggregate ROI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063240"/>
            <a:ext cx="640080" cy="5486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3227832"/>
            <a:ext cx="493776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0B2A4A"/>
                </a:solidFill>
                <a:latin typeface="Calibri"/>
              </a:rPr>
              <a:t>🟡 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97280" y="3063240"/>
            <a:ext cx="3017520" cy="5486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70432" y="3227832"/>
            <a:ext cx="2871216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0B2A4A"/>
                </a:solidFill>
                <a:latin typeface="Calibri"/>
              </a:rPr>
              <a:t>Loyal Repeat Buyers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0" y="3063240"/>
            <a:ext cx="5943600" cy="5486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87952" y="3227832"/>
            <a:ext cx="5797296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0B2A4A"/>
                </a:solidFill>
                <a:latin typeface="Calibri"/>
              </a:rPr>
              <a:t>Tier-Up to VIP campaigns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58400" y="3063240"/>
            <a:ext cx="2286000" cy="5486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31552" y="3227832"/>
            <a:ext cx="2139696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0B2A4A"/>
                </a:solidFill>
                <a:latin typeface="Calibri"/>
              </a:rPr>
              <a:t>High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611880"/>
            <a:ext cx="6400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" y="3776472"/>
            <a:ext cx="493776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0B2A4A"/>
                </a:solidFill>
                <a:latin typeface="Calibri"/>
              </a:rPr>
              <a:t>🟡 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97280" y="3611880"/>
            <a:ext cx="30175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70432" y="3776472"/>
            <a:ext cx="2871216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0B2A4A"/>
                </a:solidFill>
                <a:latin typeface="Calibri"/>
              </a:rPr>
              <a:t>Cannot Lose Them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0" y="3611880"/>
            <a:ext cx="59436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87952" y="3776472"/>
            <a:ext cx="5797296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0B2A4A"/>
                </a:solidFill>
                <a:latin typeface="Calibri"/>
              </a:rPr>
              <a:t>AM outreach · custom offer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058400" y="3611880"/>
            <a:ext cx="22860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31552" y="3776472"/>
            <a:ext cx="2139696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0B2A4A"/>
                </a:solidFill>
                <a:latin typeface="Calibri"/>
              </a:rPr>
              <a:t>Highest per-cust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160520"/>
            <a:ext cx="640080" cy="5486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0352" y="4325112"/>
            <a:ext cx="493776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0B2A4A"/>
                </a:solidFill>
                <a:latin typeface="Calibri"/>
              </a:rPr>
              <a:t>🟢 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97280" y="4160520"/>
            <a:ext cx="3017520" cy="5486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70432" y="4325112"/>
            <a:ext cx="2871216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0B2A4A"/>
                </a:solidFill>
                <a:latin typeface="Calibri"/>
              </a:rPr>
              <a:t>At Risk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0" y="4160520"/>
            <a:ext cx="5943600" cy="5486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87952" y="4325112"/>
            <a:ext cx="5797296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0B2A4A"/>
                </a:solidFill>
                <a:latin typeface="Calibri"/>
              </a:rPr>
              <a:t>Win-back campaign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058400" y="4160520"/>
            <a:ext cx="2286000" cy="5486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131552" y="4325112"/>
            <a:ext cx="2139696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0B2A4A"/>
                </a:solidFill>
                <a:latin typeface="Calibri"/>
              </a:rPr>
              <a:t>High aggregate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4709160"/>
            <a:ext cx="6400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0352" y="4873752"/>
            <a:ext cx="493776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0B2A4A"/>
                </a:solidFill>
                <a:latin typeface="Calibri"/>
              </a:rPr>
              <a:t>⚪ 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97280" y="4709160"/>
            <a:ext cx="30175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70432" y="4873752"/>
            <a:ext cx="2871216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0B2A4A"/>
                </a:solidFill>
                <a:latin typeface="Calibri"/>
              </a:rPr>
              <a:t>Hibernating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14800" y="4709160"/>
            <a:ext cx="59436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87952" y="4873752"/>
            <a:ext cx="5797296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0B2A4A"/>
                </a:solidFill>
                <a:latin typeface="Calibri"/>
              </a:rPr>
              <a:t>Annual touch only · suppress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058400" y="4709160"/>
            <a:ext cx="22860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131552" y="4873752"/>
            <a:ext cx="2139696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0B2A4A"/>
                </a:solidFill>
                <a:latin typeface="Calibri"/>
              </a:rPr>
              <a:t>Lowest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55B66"/>
                </a:solidFill>
                <a:latin typeface="Calibri"/>
              </a:rPr>
              <a:t>Customer Segmentation &amp; CRM Intelligence Platform · Final Portfolio · v1.0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HYPOTHESIS REGISTER — VERDICTS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73152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16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 i="0">
                <a:solidFill>
                  <a:srgbClr val="0B2A4A"/>
                </a:solidFill>
                <a:latin typeface="Calibri"/>
              </a:rPr>
              <a:t>6 of 7 hypotheses tested and confirmed by the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640080" cy="3657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508760"/>
            <a:ext cx="4114800" cy="3657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4114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Hypothesis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80" y="1508760"/>
            <a:ext cx="2286000" cy="3657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1554480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Verdict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0" y="1508760"/>
            <a:ext cx="4846320" cy="3657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0" y="1554480"/>
            <a:ext cx="4846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Evidence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874520"/>
            <a:ext cx="640080" cy="4572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002536"/>
            <a:ext cx="530352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 i="0">
                <a:solidFill>
                  <a:srgbClr val="0B2A4A"/>
                </a:solidFill>
                <a:latin typeface="Calibri"/>
              </a:rPr>
              <a:t>H1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1874520"/>
            <a:ext cx="4114800" cy="4572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52144" y="2002536"/>
            <a:ext cx="4005072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0B2A4A"/>
                </a:solidFill>
                <a:latin typeface="Calibri"/>
              </a:rPr>
              <a:t>Top 20% drive ≥70% of revenue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80" y="1874520"/>
            <a:ext cx="2286000" cy="4572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66944" y="2002536"/>
            <a:ext cx="2176272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0B2A4A"/>
                </a:solidFill>
                <a:latin typeface="Calibri"/>
              </a:rPr>
              <a:t>✅ CONFIRMED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80" y="1874520"/>
            <a:ext cx="4846320" cy="4572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52944" y="2002536"/>
            <a:ext cx="4736592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0B2A4A"/>
                </a:solidFill>
                <a:latin typeface="Calibri"/>
              </a:rPr>
              <a:t>75% · Gini 0.72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331720"/>
            <a:ext cx="6400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2459736"/>
            <a:ext cx="530352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 i="0">
                <a:solidFill>
                  <a:srgbClr val="0B2A4A"/>
                </a:solidFill>
                <a:latin typeface="Calibri"/>
              </a:rPr>
              <a:t>H2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2331720"/>
            <a:ext cx="41148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52144" y="2459736"/>
            <a:ext cx="4005072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0B2A4A"/>
                </a:solidFill>
                <a:latin typeface="Calibri"/>
              </a:rPr>
              <a:t>International AOV &gt; UK AOV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12080" y="2331720"/>
            <a:ext cx="2286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66944" y="2459736"/>
            <a:ext cx="2176272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0B2A4A"/>
                </a:solidFill>
                <a:latin typeface="Calibri"/>
              </a:rPr>
              <a:t>✅ CONFIRMED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80" y="2331720"/>
            <a:ext cx="4846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2459736"/>
            <a:ext cx="4736592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0B2A4A"/>
                </a:solidFill>
                <a:latin typeface="Calibri"/>
              </a:rPr>
              <a:t>£850 vs £438 (1.9×)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788920"/>
            <a:ext cx="640080" cy="4572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2064" y="2916936"/>
            <a:ext cx="530352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 i="0">
                <a:solidFill>
                  <a:srgbClr val="0B2A4A"/>
                </a:solidFill>
                <a:latin typeface="Calibri"/>
              </a:rPr>
              <a:t>H3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97280" y="2788920"/>
            <a:ext cx="4114800" cy="4572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52144" y="2916936"/>
            <a:ext cx="4005072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0B2A4A"/>
                </a:solidFill>
                <a:latin typeface="Calibri"/>
              </a:rPr>
              <a:t>Fast 2nd-buy → 3× LTV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12080" y="2788920"/>
            <a:ext cx="2286000" cy="4572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66944" y="2916936"/>
            <a:ext cx="2176272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0B2A4A"/>
                </a:solidFill>
                <a:latin typeface="Calibri"/>
              </a:rPr>
              <a:t>✅ STRONGER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8080" y="2788920"/>
            <a:ext cx="4846320" cy="4572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2916936"/>
            <a:ext cx="4736592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0B2A4A"/>
                </a:solidFill>
                <a:latin typeface="Calibri"/>
              </a:rPr>
              <a:t>11.9× (4× higher than predicted)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246120"/>
            <a:ext cx="6400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2064" y="3374136"/>
            <a:ext cx="530352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 i="0">
                <a:solidFill>
                  <a:srgbClr val="0B2A4A"/>
                </a:solidFill>
                <a:latin typeface="Calibri"/>
              </a:rPr>
              <a:t>H4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97280" y="3246120"/>
            <a:ext cx="41148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52144" y="3374136"/>
            <a:ext cx="4005072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0B2A4A"/>
                </a:solidFill>
                <a:latin typeface="Calibri"/>
              </a:rPr>
              <a:t>Hidden B2B segment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12080" y="3246120"/>
            <a:ext cx="2286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66944" y="3374136"/>
            <a:ext cx="2176272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0B2A4A"/>
                </a:solidFill>
                <a:latin typeface="Calibri"/>
              </a:rPr>
              <a:t>✅ STRONGER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8080" y="3246120"/>
            <a:ext cx="4846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3374136"/>
            <a:ext cx="4736592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0B2A4A"/>
                </a:solidFill>
                <a:latin typeface="Calibri"/>
              </a:rPr>
              <a:t>689 customers · 13× larger than manual top-50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3703320"/>
            <a:ext cx="640080" cy="4572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2064" y="3831336"/>
            <a:ext cx="530352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 i="0">
                <a:solidFill>
                  <a:srgbClr val="0B2A4A"/>
                </a:solidFill>
                <a:latin typeface="Calibri"/>
              </a:rPr>
              <a:t>H5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97280" y="3703320"/>
            <a:ext cx="4114800" cy="4572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52144" y="3831336"/>
            <a:ext cx="4005072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0B2A4A"/>
                </a:solidFill>
                <a:latin typeface="Calibri"/>
              </a:rPr>
              <a:t>Dormant-loyal recoverable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12080" y="3703320"/>
            <a:ext cx="2286000" cy="4572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66944" y="3831336"/>
            <a:ext cx="2176272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0B2A4A"/>
                </a:solidFill>
                <a:latin typeface="Calibri"/>
              </a:rPr>
              <a:t>✅ CONFIRMED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98080" y="3703320"/>
            <a:ext cx="4846320" cy="4572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3831336"/>
            <a:ext cx="4736592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0B2A4A"/>
                </a:solidFill>
                <a:latin typeface="Calibri"/>
              </a:rPr>
              <a:t>£1.06M pool · 1,170 customers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4160520"/>
            <a:ext cx="6400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12064" y="4288536"/>
            <a:ext cx="530352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 i="0">
                <a:solidFill>
                  <a:srgbClr val="0B2A4A"/>
                </a:solidFill>
                <a:latin typeface="Calibri"/>
              </a:rPr>
              <a:t>H6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97280" y="4160520"/>
            <a:ext cx="41148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52144" y="4288536"/>
            <a:ext cx="4005072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0B2A4A"/>
                </a:solidFill>
                <a:latin typeface="Calibri"/>
              </a:rPr>
              <a:t>Gift-season cohort behavior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212080" y="4160520"/>
            <a:ext cx="2286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266944" y="4288536"/>
            <a:ext cx="2176272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0B2A4A"/>
                </a:solidFill>
                <a:latin typeface="Calibri"/>
              </a:rPr>
              <a:t>✅ CONFIRMED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498080" y="4160520"/>
            <a:ext cx="4846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52944" y="4288536"/>
            <a:ext cx="4736592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0B2A4A"/>
                </a:solidFill>
                <a:latin typeface="Calibri"/>
              </a:rPr>
              <a:t>Q4 spike + 27% retention at m12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4617720"/>
            <a:ext cx="640080" cy="4572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12064" y="4745736"/>
            <a:ext cx="530352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 i="0">
                <a:solidFill>
                  <a:srgbClr val="0B2A4A"/>
                </a:solidFill>
                <a:latin typeface="Calibri"/>
              </a:rPr>
              <a:t>H7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97280" y="4617720"/>
            <a:ext cx="4114800" cy="4572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152144" y="4745736"/>
            <a:ext cx="4005072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0B2A4A"/>
                </a:solidFill>
                <a:latin typeface="Calibri"/>
              </a:rPr>
              <a:t>Returns concentrated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212080" y="4617720"/>
            <a:ext cx="2286000" cy="4572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266944" y="4745736"/>
            <a:ext cx="2176272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0B2A4A"/>
                </a:solidFill>
                <a:latin typeface="Calibri"/>
              </a:rPr>
              <a:t>⏳ DEFERRED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498080" y="4617720"/>
            <a:ext cx="4846320" cy="4572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52944" y="4745736"/>
            <a:ext cx="4736592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0B2A4A"/>
                </a:solidFill>
                <a:latin typeface="Calibri"/>
              </a:rPr>
              <a:t>Future work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55B66"/>
                </a:solidFill>
                <a:latin typeface="Calibri"/>
              </a:rPr>
              <a:t>Customer Segmentation &amp; CRM Intelligence Platform · Final Portfolio · v1.0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WHAT I WOULD DO IN MY FIRST 90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73152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17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 i="0">
                <a:solidFill>
                  <a:srgbClr val="0B2A4A"/>
                </a:solidFill>
                <a:latin typeface="Calibri"/>
              </a:rPr>
              <a:t>Day-1-ready on an Avelabs client engagement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137160" cy="960120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11064240" cy="9601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27632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alibri"/>
              </a:rPr>
              <a:t>Weeks 1-2 — Onboard + Audit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0B2A4A"/>
                </a:solidFill>
                <a:latin typeface="Calibri"/>
              </a:rPr>
              <a:t>Map client data sources · run a 5-step quality framework · identify the equivalent of "missing CustomerID 25%" landmines before they bite downstream analyses.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51760"/>
            <a:ext cx="137160" cy="960120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651760"/>
            <a:ext cx="11064240" cy="9601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724912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alibri"/>
              </a:rPr>
              <a:t>Weeks 3-6 — Foundation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06324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0B2A4A"/>
                </a:solidFill>
                <a:latin typeface="Calibri"/>
              </a:rPr>
              <a:t>RFM scoring · cohort retention · CLV distribution · Pareto / Lorenz reads. Deliver the executive read-out FIRST, then the notebook.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49040"/>
            <a:ext cx="137160" cy="960120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749040"/>
            <a:ext cx="11064240" cy="9601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822192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alibri"/>
              </a:rPr>
              <a:t>Weeks 7-10 — Segmentation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16052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0B2A4A"/>
                </a:solidFill>
                <a:latin typeface="Calibri"/>
              </a:rPr>
              <a:t>ML clustering on the client base · cross-validate vs. rules-based segmentation · produce per-persona campaign briefs.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846320"/>
            <a:ext cx="137160" cy="960120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846320"/>
            <a:ext cx="11064240" cy="9601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919472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Calibri"/>
              </a:rPr>
              <a:t>Weeks 11-13 — AI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25780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0B2A4A"/>
                </a:solidFill>
                <a:latin typeface="Calibri"/>
              </a:rPr>
              <a:t>Design a client-specific decision-support agent following the same "LLM renders, tools decide" architecture. Live LLM swap-in.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55B66"/>
                </a:solidFill>
                <a:latin typeface="Calibri"/>
              </a:rPr>
              <a:t>Customer Segmentation &amp; CRM Intelligence Platform · Final Portfolio · v1.0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12191695" cy="45720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1F6FB5"/>
                </a:solidFill>
                <a:latin typeface="Calibri"/>
              </a:rPr>
              <a:t>READY TO DISCUSS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97280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200" b="1" i="0">
                <a:solidFill>
                  <a:srgbClr val="0B2A4A"/>
                </a:solidFill>
                <a:latin typeface="Calibri"/>
              </a:rPr>
              <a:t>Let's build the next one
for Avelabs.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555B66"/>
                </a:solidFill>
                <a:latin typeface="Calibri"/>
              </a:rPr>
              <a:t>Full notebooks, system design DOCX, segmentation deck, AI architecture deck,
and 22 charts available on GitHub.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Calibri"/>
              </a:rPr>
              <a:t>[Your Name]  ·  [email]  ·  [LinkedIn URL]  ·  [GitHub URL]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