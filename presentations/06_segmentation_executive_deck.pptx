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12191695" cy="4572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1F6FB5"/>
                </a:solidFill>
                <a:latin typeface="Calibri"/>
              </a:rPr>
              <a:t>PHASE 6 — CUSTOMER SEGMENTATION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9728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4400" b="1" i="0">
                <a:solidFill>
                  <a:srgbClr val="0B2A4A"/>
                </a:solidFill>
                <a:latin typeface="Calibri"/>
              </a:rPr>
              <a:t>5 Personas that Drive
CRM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0" i="1">
                <a:solidFill>
                  <a:srgbClr val="555B66"/>
                </a:solidFill>
                <a:latin typeface="Calibri"/>
              </a:rPr>
              <a:t>From rules-based RFM to ML-discovered personas, with named campaigns per segment.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Calibri"/>
              </a:rPr>
              <a:t>Customer Segmentation &amp; CRM Intelligence Platform   ·   UCI Online Retail (Dec 2010 – Dec 2011)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B2A4A"/>
                </a:solidFill>
                <a:latin typeface="Calibri"/>
              </a:rPr>
              <a:t>Three things to take away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" cy="457200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65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1F6FB5"/>
                </a:solidFill>
                <a:latin typeface="Calibri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1732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VIP B2B Accounts ARE the business.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689 customers (16% of base) drive 60% of revenue. Defending them is the single highest-leverage CRM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365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1F6FB5"/>
                </a:solidFill>
                <a:latin typeface="Calibri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7180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Engaged New Buyers are the pipeline.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429000"/>
            <a:ext cx="100584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1,140 customers in the 30-day post-purchase window. Phase 4 H3 finding: fast 2nd-buyers have 11.9× the CLV of one-timers.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3657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1F6FB5"/>
                </a:solidFill>
                <a:latin typeface="Calibri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526280"/>
            <a:ext cx="1005840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0B2A4A"/>
                </a:solidFill>
                <a:latin typeface="Calibri"/>
              </a:rPr>
              <a:t>Dormant Former Buyers are not worth chasing.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983480"/>
            <a:ext cx="100584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555B66"/>
                </a:solidFill>
                <a:latin typeface="Calibri"/>
              </a:rPr>
              <a:t>803 customers · 1.4% of revenue. Suppress, do not over-invest. Redirect budget to VIP retention.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Phase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METHODOLOGY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B2A4A"/>
                </a:solidFill>
                <a:latin typeface="Calibri"/>
              </a:rPr>
              <a:t>How we built the 5 personas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011680" cy="6400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463040"/>
            <a:ext cx="9235440" cy="6400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627632"/>
            <a:ext cx="9052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0B2A4A"/>
                </a:solidFill>
                <a:latin typeface="Calibri"/>
              </a:rPr>
              <a:t>4,338 customers · log-transformed RFM + basket + tenure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2011680" cy="6400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2316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Algorithm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286000"/>
            <a:ext cx="9235440" cy="6400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2450592"/>
            <a:ext cx="9052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0B2A4A"/>
                </a:solidFill>
                <a:latin typeface="Calibri"/>
              </a:rPr>
              <a:t>K-means clustering on standardized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2011680" cy="6400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K selection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3108960"/>
            <a:ext cx="9235440" cy="6400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40" y="3273552"/>
            <a:ext cx="9052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0B2A4A"/>
                </a:solidFill>
                <a:latin typeface="Calibri"/>
              </a:rPr>
              <a:t>K=5 chosen for interpretability (silhouette 0.28 · PCA explains 84% of variance)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2011680" cy="6400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6908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3931920"/>
            <a:ext cx="9235440" cy="6400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40" y="4096512"/>
            <a:ext cx="9052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0B2A4A"/>
                </a:solidFill>
                <a:latin typeface="Calibri"/>
              </a:rPr>
              <a:t>Cross-tabulated ML personas vs. Phase 5 RFM segments — strong convergence at top tier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54880"/>
            <a:ext cx="2011680" cy="6400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92040"/>
            <a:ext cx="2011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4754880"/>
            <a:ext cx="9235440" cy="64008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40" y="4919472"/>
            <a:ext cx="90525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0" i="0">
                <a:solidFill>
                  <a:srgbClr val="0B2A4A"/>
                </a:solidFill>
                <a:latin typeface="Calibri"/>
              </a:rPr>
              <a:t>Persona label per customer · per-persona playbook · CSV ready for Phase 7 AI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Phase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WHY K =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B2A4A"/>
                </a:solidFill>
                <a:latin typeface="Calibri"/>
              </a:rPr>
              <a:t>Elbow + Silhouette diagnostics</a:t>
            </a:r>
          </a:p>
        </p:txBody>
      </p:sp>
      <p:pic>
        <p:nvPicPr>
          <p:cNvPr id="6" name="Picture 5" descr="chart17_k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858000" cy="39173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1463040"/>
            <a:ext cx="42976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K=5 is the business sweet spot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2011680"/>
            <a:ext cx="4297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6FB5"/>
                </a:solidFill>
                <a:latin typeface="Calibri"/>
              </a:rPr>
              <a:t>• K=2 highest silhouette → useless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33172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55B66"/>
                </a:solidFill>
                <a:latin typeface="Calibri"/>
              </a:rPr>
              <a:t>collapses VIPs into a 'high-value blob'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788920"/>
            <a:ext cx="4297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6FB5"/>
                </a:solidFill>
                <a:latin typeface="Calibri"/>
              </a:rPr>
              <a:t>• K=5 sits near the elbow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10896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55B66"/>
                </a:solidFill>
                <a:latin typeface="Calibri"/>
              </a:rPr>
              <a:t>with interpretable persona names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566160"/>
            <a:ext cx="4297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6FB5"/>
                </a:solidFill>
                <a:latin typeface="Calibri"/>
              </a:rPr>
              <a:t>• K=8+ marginal silhouette 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88620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55B66"/>
                </a:solidFill>
                <a:latin typeface="Calibri"/>
              </a:rPr>
              <a:t>subdivides already-named personas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4343400"/>
            <a:ext cx="42976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1F6FB5"/>
                </a:solidFill>
                <a:latin typeface="Calibri"/>
              </a:rPr>
              <a:t>• Silhouette 0.28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4663440"/>
            <a:ext cx="42976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555B66"/>
                </a:solidFill>
                <a:latin typeface="Calibri"/>
              </a:rPr>
              <a:t>moderate; overlapping behaviors expected in real customer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Phase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CUSTOMER LANDSCAPE — PCA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5 personas explain 84% of customer variance</a:t>
            </a:r>
          </a:p>
        </p:txBody>
      </p:sp>
      <p:pic>
        <p:nvPicPr>
          <p:cNvPr id="6" name="Picture 5" descr="chart18_pca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9144000" cy="57213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035040"/>
            <a:ext cx="11430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555B66"/>
                </a:solidFill>
                <a:latin typeface="Calibri"/>
              </a:rPr>
              <a:t>VIP B2B Accounts occupy the high-monetary corner — visually distinct from the rest.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Phase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THE 5 PERSONAS — REVENUE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6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Customer share is inverted from revenue share</a:t>
            </a:r>
          </a:p>
        </p:txBody>
      </p:sp>
      <p:pic>
        <p:nvPicPr>
          <p:cNvPr id="6" name="Picture 5" descr="chart19_persona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10881360" cy="47582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035040"/>
            <a:ext cx="11430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555B66"/>
                </a:solidFill>
                <a:latin typeface="Calibri"/>
              </a:rPr>
              <a:t>689 VIP B2B Accounts (16% of base) drive 60% of revenue. Hibernating tail is large but cheap.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Phase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PERSONA FINGERPRINTS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7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0B2A4A"/>
                </a:solidFill>
                <a:latin typeface="Calibri"/>
              </a:rPr>
              <a:t>Each persona has a distinct multi-dimensional signature</a:t>
            </a:r>
          </a:p>
        </p:txBody>
      </p:sp>
      <p:pic>
        <p:nvPicPr>
          <p:cNvPr id="6" name="Picture 5" descr="chart20_persona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88720"/>
            <a:ext cx="4689655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63640"/>
            <a:ext cx="114300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555B66"/>
                </a:solidFill>
                <a:latin typeface="Calibri"/>
              </a:rPr>
              <a:t>VIP B2B = high on EVERY dimension. Dormant = low on every. The radar makes them visually unmistakable.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Phase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PERSONA 1 / 5 — VIP B2B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8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11480"/>
            <a:ext cx="228600" cy="64465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Calibri"/>
              </a:rPr>
              <a:t>HIGHEST PRIORITY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VIP B2B Accounts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256032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5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55B66"/>
                </a:solidFill>
                <a:latin typeface="Calibri"/>
              </a:rPr>
              <a:t>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58567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0B2A4A"/>
                </a:solidFill>
                <a:latin typeface="Calibri"/>
              </a:rPr>
              <a:t>689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874519"/>
            <a:ext cx="256032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96595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55B66"/>
                </a:solidFill>
                <a:latin typeface="Calibri"/>
              </a:rPr>
              <a:t>% of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258567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0B2A4A"/>
                </a:solidFill>
                <a:latin typeface="Calibri"/>
              </a:rPr>
              <a:t>15.9%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874519"/>
            <a:ext cx="256032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96595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55B66"/>
                </a:solidFill>
                <a:latin typeface="Calibri"/>
              </a:rPr>
              <a:t>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258567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0B2A4A"/>
                </a:solidFill>
                <a:latin typeface="Calibri"/>
              </a:rPr>
              <a:t>£5,343k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59" y="1874519"/>
            <a:ext cx="256032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196595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55B66"/>
                </a:solidFill>
                <a:latin typeface="Calibri"/>
              </a:rPr>
              <a:t>%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258567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0B2A4A"/>
                </a:solidFill>
                <a:latin typeface="Calibri"/>
              </a:rPr>
              <a:t>60.1%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089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0B2A4A"/>
                </a:solidFill>
                <a:latin typeface="Calibri"/>
              </a:rPr>
              <a:t>Named Campaign:  Named Account Program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20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555B66"/>
                </a:solidFill>
                <a:latin typeface="Calibri"/>
              </a:rPr>
              <a:t>Channel:  Direct human (AM) + personalized email   ·   Budget:  Highest per-customer spend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0B2A4A"/>
                </a:solidFill>
                <a:latin typeface="Calibri"/>
              </a:rPr>
              <a:t>Why:  Drives 60% of revenue from 16% of customers. Highest cost of loss per customer.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348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Actions: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•  Assign account managers to top-50 within this cluster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47488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•  Custom pricing tier · early product access · quarterly business reviews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40096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•  Reorder workflows (B2B never want to re-enter the same order monthly)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632704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•  Suppress from generic email blasts — they get individualized comms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391656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Calibri"/>
              </a:rPr>
              <a:t>KPI:  Account retention rate · revenue per account YoY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PERSONA 2 / 5 — LOYAL REPEAT BUYERS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9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11480"/>
            <a:ext cx="228600" cy="644652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6FB5"/>
                </a:solidFill>
                <a:latin typeface="Calibri"/>
              </a:rPr>
              <a:t>GROWTH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Loyal Repeat Buyers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256032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5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55B66"/>
                </a:solidFill>
                <a:latin typeface="Calibri"/>
              </a:rPr>
              <a:t>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58567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0B2A4A"/>
                </a:solidFill>
                <a:latin typeface="Calibri"/>
              </a:rPr>
              <a:t>899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874519"/>
            <a:ext cx="256032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96595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55B66"/>
                </a:solidFill>
                <a:latin typeface="Calibri"/>
              </a:rPr>
              <a:t>% of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258567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0B2A4A"/>
                </a:solidFill>
                <a:latin typeface="Calibri"/>
              </a:rPr>
              <a:t>20.7%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874519"/>
            <a:ext cx="256032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96595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55B66"/>
                </a:solidFill>
                <a:latin typeface="Calibri"/>
              </a:rPr>
              <a:t>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258567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0B2A4A"/>
                </a:solidFill>
                <a:latin typeface="Calibri"/>
              </a:rPr>
              <a:t>£2,260k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59" y="1874519"/>
            <a:ext cx="256032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196595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55B66"/>
                </a:solidFill>
                <a:latin typeface="Calibri"/>
              </a:rPr>
              <a:t>%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258567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0B2A4A"/>
                </a:solidFill>
                <a:latin typeface="Calibri"/>
              </a:rPr>
              <a:t>25.4%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089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1F6FB5"/>
                </a:solidFill>
                <a:latin typeface="Calibri"/>
              </a:rPr>
              <a:t>Named Campaign:  Tier-Up to VIP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20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555B66"/>
                </a:solidFill>
                <a:latin typeface="Calibri"/>
              </a:rPr>
              <a:t>Channel:  Triggered email + retargeting + loyalty platform   ·   Budget:  High — promotion ROI is strong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0B2A4A"/>
                </a:solidFill>
                <a:latin typeface="Calibri"/>
              </a:rPr>
              <a:t>Why:  25% of revenue from 21% of base. Natural promotion path to VIP.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348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Actions: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•  Frequency-uplift campaigns (volume discounts, basket-builder offers)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47488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•  Loyalty tier program with VIP benefits at threshold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40096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•  Personalized product recommendations based on category affinity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632704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•  Cross-sell adjacent categories to grow basket size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391656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Calibri"/>
              </a:rPr>
              <a:t>KPI:  Tier-migration rate to VIP · avg basket value · NPS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PERSONA 3 / 5 — ENGAGED NEW BUYERS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10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11480"/>
            <a:ext cx="228600" cy="6446520"/>
          </a:xfrm>
          <a:prstGeom prst="rect">
            <a:avLst/>
          </a:prstGeom>
          <a:solidFill>
            <a:srgbClr val="3F8E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3F8E5D"/>
                </a:solidFill>
                <a:latin typeface="Calibri"/>
              </a:rPr>
              <a:t>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Engaged New Buyers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256032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5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55B66"/>
                </a:solidFill>
                <a:latin typeface="Calibri"/>
              </a:rPr>
              <a:t>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58567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0B2A4A"/>
                </a:solidFill>
                <a:latin typeface="Calibri"/>
              </a:rPr>
              <a:t>1,140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874519"/>
            <a:ext cx="256032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96595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55B66"/>
                </a:solidFill>
                <a:latin typeface="Calibri"/>
              </a:rPr>
              <a:t>% of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258567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0B2A4A"/>
                </a:solidFill>
                <a:latin typeface="Calibri"/>
              </a:rPr>
              <a:t>26.3%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874519"/>
            <a:ext cx="256032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96595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55B66"/>
                </a:solidFill>
                <a:latin typeface="Calibri"/>
              </a:rPr>
              <a:t>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258567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0B2A4A"/>
                </a:solidFill>
                <a:latin typeface="Calibri"/>
              </a:rPr>
              <a:t>£683k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59" y="1874519"/>
            <a:ext cx="256032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196595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55B66"/>
                </a:solidFill>
                <a:latin typeface="Calibri"/>
              </a:rPr>
              <a:t>%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258567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0B2A4A"/>
                </a:solidFill>
                <a:latin typeface="Calibri"/>
              </a:rPr>
              <a:t>7.7%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089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3F8E5D"/>
                </a:solidFill>
                <a:latin typeface="Calibri"/>
              </a:rPr>
              <a:t>Named Campaign:  30-Day Nurture (H3 — 11.9× CLV multiplier)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20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555B66"/>
                </a:solidFill>
                <a:latin typeface="Calibri"/>
              </a:rPr>
              <a:t>Channel:  Automated lifecycle email + onboarding   ·   Budget:  Medium per-customer · highest aggregate ROI lever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0B2A4A"/>
                </a:solidFill>
                <a:latin typeface="Calibri"/>
              </a:rPr>
              <a:t>Why:  Phase 4 finding: fast 2nd-buyers have 11.9× the CLV of one-time buyers. This is the pipeline.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348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Actions: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•  Welcome series within 24 hours of first purchase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47488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•  Day-25 second-purchase trigger email (lands BEFORE natural 73-day cadence)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40096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•  Product education content for category breadth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632704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•  Light incentive on 2nd order to reduce friction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391656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Calibri"/>
              </a:rPr>
              <a:t>KPI:  2nd-purchase rate within 30 days · cohort retention at month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PERSONA 4 / 5 — CASUAL LOW-VALUE BUYERS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11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11480"/>
            <a:ext cx="228600" cy="6446520"/>
          </a:xfrm>
          <a:prstGeom prst="rect">
            <a:avLst/>
          </a:prstGeom>
          <a:solidFill>
            <a:srgbClr val="E0A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E0A458"/>
                </a:solidFill>
                <a:latin typeface="Calibri"/>
              </a:rPr>
              <a:t>MAINTAIN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Casual Low-Value Buyers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256032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5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55B66"/>
                </a:solidFill>
                <a:latin typeface="Calibri"/>
              </a:rPr>
              <a:t>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58567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0B2A4A"/>
                </a:solidFill>
                <a:latin typeface="Calibri"/>
              </a:rPr>
              <a:t>807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874519"/>
            <a:ext cx="256032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96595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55B66"/>
                </a:solidFill>
                <a:latin typeface="Calibri"/>
              </a:rPr>
              <a:t>% of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258567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0B2A4A"/>
                </a:solidFill>
                <a:latin typeface="Calibri"/>
              </a:rPr>
              <a:t>18.6%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874519"/>
            <a:ext cx="256032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96595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55B66"/>
                </a:solidFill>
                <a:latin typeface="Calibri"/>
              </a:rPr>
              <a:t>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258567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0B2A4A"/>
                </a:solidFill>
                <a:latin typeface="Calibri"/>
              </a:rPr>
              <a:t>£476k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59" y="1874519"/>
            <a:ext cx="256032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196595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55B66"/>
                </a:solidFill>
                <a:latin typeface="Calibri"/>
              </a:rPr>
              <a:t>%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258567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0B2A4A"/>
                </a:solidFill>
                <a:latin typeface="Calibri"/>
              </a:rPr>
              <a:t>5.4%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089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E0A458"/>
                </a:solidFill>
                <a:latin typeface="Calibri"/>
              </a:rPr>
              <a:t>Named Campaign:  Quarterly Reactivation Promo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20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555B66"/>
                </a:solidFill>
                <a:latin typeface="Calibri"/>
              </a:rPr>
              <a:t>Channel:  Bulk email · light retargeting   ·   Budget:  Low-medium · per-customer spend should be modest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0B2A4A"/>
                </a:solidFill>
                <a:latin typeface="Calibri"/>
              </a:rPr>
              <a:t>Why:  5% of revenue from 19% of base. Not zero-value, but not the priority.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348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Actions: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•  Quarterly seasonal promo email (avoid over-frequency)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47488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•  Light retargeting around peak shopping windows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40096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•  Reactivation offer at 90-day dormancy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632704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•  Do NOT pull into VIP campaigns — economics don't justify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391656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Calibri"/>
              </a:rPr>
              <a:t>KPI:  Reactivation rate · cost per reactivated customer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PERSONA 5 / 5 — DORMANT FORMER BUYERS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12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11480"/>
            <a:ext cx="228600" cy="6446520"/>
          </a:xfrm>
          <a:prstGeom prst="rect">
            <a:avLst/>
          </a:prstGeom>
          <a:solidFill>
            <a:srgbClr val="555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555B66"/>
                </a:solidFill>
                <a:latin typeface="Calibri"/>
              </a:rPr>
              <a:t>SUPPRESS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3000" b="1" i="0">
                <a:solidFill>
                  <a:srgbClr val="0B2A4A"/>
                </a:solidFill>
                <a:latin typeface="Calibri"/>
              </a:rPr>
              <a:t>Dormant Former Buyers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256032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6595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55B66"/>
                </a:solidFill>
                <a:latin typeface="Calibri"/>
              </a:rPr>
              <a:t>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58567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0B2A4A"/>
                </a:solidFill>
                <a:latin typeface="Calibri"/>
              </a:rPr>
              <a:t>803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874519"/>
            <a:ext cx="256032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96595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55B66"/>
                </a:solidFill>
                <a:latin typeface="Calibri"/>
              </a:rPr>
              <a:t>% of 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258567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0B2A4A"/>
                </a:solidFill>
                <a:latin typeface="Calibri"/>
              </a:rPr>
              <a:t>18.5%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874519"/>
            <a:ext cx="256032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96595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55B66"/>
                </a:solidFill>
                <a:latin typeface="Calibri"/>
              </a:rPr>
              <a:t>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258567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0B2A4A"/>
                </a:solidFill>
                <a:latin typeface="Calibri"/>
              </a:rPr>
              <a:t>£124k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23959" y="1874519"/>
            <a:ext cx="2560320" cy="9601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59" y="196595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555B66"/>
                </a:solidFill>
                <a:latin typeface="Calibri"/>
              </a:rPr>
              <a:t>%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59" y="2258567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200" b="1" i="0">
                <a:solidFill>
                  <a:srgbClr val="0B2A4A"/>
                </a:solidFill>
                <a:latin typeface="Calibri"/>
              </a:rPr>
              <a:t>1.4%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1089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555B66"/>
                </a:solidFill>
                <a:latin typeface="Calibri"/>
              </a:rPr>
              <a:t>Named Campaign:  Annual Touch / Suppress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520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555B66"/>
                </a:solidFill>
                <a:latin typeface="Calibri"/>
              </a:rPr>
              <a:t>Channel:  Bulk email — 1× per year max   ·   Budget:  Lowest — do not over-invest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0B2A4A"/>
                </a:solidFill>
                <a:latin typeface="Calibri"/>
              </a:rPr>
              <a:t>Why:  803 customers · 1.4% of revenue · ~168 days dormant. Reactivation economics are unfavorable.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43484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0">
                <a:solidFill>
                  <a:srgbClr val="0B2A4A"/>
                </a:solidFill>
                <a:latin typeface="Calibri"/>
              </a:rPr>
              <a:t>Actions: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•  Annual reactivation campaign — that's 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47488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•  Suppress from all marketing-frequency campaigns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40096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•  Use as a control / lookalike-exclusion group for paid media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632704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0B2A4A"/>
                </a:solidFill>
                <a:latin typeface="Calibri"/>
              </a:rPr>
              <a:t>•  Mark for permanent suppression if no response in 2 cycles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391656"/>
            <a:ext cx="109728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0B2A4A"/>
                </a:solidFill>
                <a:latin typeface="Calibri"/>
              </a:rPr>
              <a:t>KPI:  Cost per reactivation (expect to be unfavorable) · suppression list hygiene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Q1 BUDGET ALLOCATION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73152"/>
            <a:ext cx="109728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13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400" b="1" i="0">
                <a:solidFill>
                  <a:srgbClr val="0B2A4A"/>
                </a:solidFill>
                <a:latin typeface="Calibri"/>
              </a:rPr>
              <a:t>Where the next-quarter CRM budget should go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64008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6400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Rank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508760"/>
            <a:ext cx="246888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246888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Persona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508760"/>
            <a:ext cx="100584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554480"/>
            <a:ext cx="10058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Customers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508760"/>
            <a:ext cx="100584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100584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% Revenue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1508760"/>
            <a:ext cx="310896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1554480"/>
            <a:ext cx="310896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Budget Tier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508760"/>
            <a:ext cx="3200400" cy="36576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1554480"/>
            <a:ext cx="3200400" cy="29260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Q1 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874520"/>
            <a:ext cx="64008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1993392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B2A4A"/>
                </a:solidFill>
                <a:latin typeface="Calibri"/>
              </a:rPr>
              <a:t>🔴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1874520"/>
            <a:ext cx="246888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1993392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VIP B2B Accounts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66160" y="1874520"/>
            <a:ext cx="100584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80" y="1993392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B2A4A"/>
                </a:solidFill>
                <a:latin typeface="Calibri"/>
              </a:rPr>
              <a:t>689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1874520"/>
            <a:ext cx="100584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1993392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B2A4A"/>
                </a:solidFill>
                <a:latin typeface="Calibri"/>
              </a:rPr>
              <a:t>60%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1874520"/>
            <a:ext cx="310896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23560" y="199339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Highest per-customer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1874520"/>
            <a:ext cx="320040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32520" y="1993392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Account-managed retention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377440"/>
            <a:ext cx="640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496312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B2A4A"/>
                </a:solidFill>
                <a:latin typeface="Calibri"/>
              </a:rPr>
              <a:t>🔴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" y="2377440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2496312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Engaged New Buyers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66160" y="2377440"/>
            <a:ext cx="1005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11880" y="2496312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B2A4A"/>
                </a:solidFill>
                <a:latin typeface="Calibri"/>
              </a:rPr>
              <a:t>1,140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2377440"/>
            <a:ext cx="1005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20" y="2496312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B2A4A"/>
                </a:solidFill>
                <a:latin typeface="Calibri"/>
              </a:rPr>
              <a:t>7.7%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2377440"/>
            <a:ext cx="3108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23560" y="249631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Medium per-customer · highest aggregate ROI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2377440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32520" y="2496312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30-day nurture (H3)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2880360"/>
            <a:ext cx="64008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2999232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B2A4A"/>
                </a:solidFill>
                <a:latin typeface="Calibri"/>
              </a:rPr>
              <a:t>🟡 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97280" y="2880360"/>
            <a:ext cx="246888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2999232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Loyal Repeat Buyers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66160" y="2880360"/>
            <a:ext cx="100584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11880" y="2999232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B2A4A"/>
                </a:solidFill>
                <a:latin typeface="Calibri"/>
              </a:rPr>
              <a:t>899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0" y="2880360"/>
            <a:ext cx="100584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17720" y="2999232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B2A4A"/>
                </a:solidFill>
                <a:latin typeface="Calibri"/>
              </a:rPr>
              <a:t>25.4%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77840" y="2880360"/>
            <a:ext cx="310896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23560" y="299923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High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0" y="2880360"/>
            <a:ext cx="320040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732520" y="2999232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Tier-up campaigns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3383280"/>
            <a:ext cx="6400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3502152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B2A4A"/>
                </a:solidFill>
                <a:latin typeface="Calibri"/>
              </a:rPr>
              <a:t>🟡 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97280" y="3383280"/>
            <a:ext cx="2468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3502152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Casual Low-Value Buyers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66160" y="3383280"/>
            <a:ext cx="1005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11880" y="3502152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B2A4A"/>
                </a:solidFill>
                <a:latin typeface="Calibri"/>
              </a:rPr>
              <a:t>807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0" y="3383280"/>
            <a:ext cx="1005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17720" y="3502152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B2A4A"/>
                </a:solidFill>
                <a:latin typeface="Calibri"/>
              </a:rPr>
              <a:t>5.4%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77840" y="3383280"/>
            <a:ext cx="3108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23560" y="350215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Low-medium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86800" y="3383280"/>
            <a:ext cx="3200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32520" y="3502152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Quarterly seasonal promo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3886200"/>
            <a:ext cx="64008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4005072"/>
            <a:ext cx="548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B2A4A"/>
                </a:solidFill>
                <a:latin typeface="Calibri"/>
              </a:rPr>
              <a:t>⚪ 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97280" y="3886200"/>
            <a:ext cx="246888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43000" y="4005072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Dormant Former Buyers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566160" y="3886200"/>
            <a:ext cx="100584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11880" y="4005072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B2A4A"/>
                </a:solidFill>
                <a:latin typeface="Calibri"/>
              </a:rPr>
              <a:t>803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0" y="3886200"/>
            <a:ext cx="100584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617720" y="4005072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 i="0">
                <a:solidFill>
                  <a:srgbClr val="0B2A4A"/>
                </a:solidFill>
                <a:latin typeface="Calibri"/>
              </a:rPr>
              <a:t>1.4%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77840" y="3886200"/>
            <a:ext cx="310896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623560" y="4005072"/>
            <a:ext cx="301752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Lowest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686800" y="3886200"/>
            <a:ext cx="3200400" cy="50292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732520" y="4005072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0B2A4A"/>
                </a:solidFill>
                <a:latin typeface="Calibri"/>
              </a:rPr>
              <a:t>Annual touch · suppress otherwise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 i="1">
                <a:solidFill>
                  <a:srgbClr val="1F6FB5"/>
                </a:solidFill>
                <a:latin typeface="Calibri"/>
              </a:rPr>
              <a:t>The principle: budget follows revenue concentration AND lifecycle leverage — not customer-count parity.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57200" y="58064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555B66"/>
                </a:solidFill>
                <a:latin typeface="Calibri"/>
              </a:rPr>
              <a:t>Next phase: An AI Marketing Agent that operationalizes these personas — auto-generating per-segment alerts, executive summaries, and campaign briefs from live RFM signals.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55B66"/>
                </a:solidFill>
                <a:latin typeface="Calibri"/>
              </a:rPr>
              <a:t>Customer Segmentation &amp; CRM Intelligence Platform · Phase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