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PHASE 7 —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0B2A4A"/>
                </a:solidFill>
                <a:latin typeface="Calibri"/>
              </a:rPr>
              <a:t>AI Marketing Insights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B66"/>
                </a:solidFill>
                <a:latin typeface="Calibri"/>
              </a:rPr>
              <a:t>A decision-support system on top of 5-persona ML segmentation.
The LLM renders. The tools decide. No fabrication.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Customer Segmentation &amp; CRM Intelligence Platform · Architecture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AN AGENT — DECISION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From notebook insight to executive decision in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41148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Without the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CRM Manager pulls CSV, filters, sorts, formats list, writes memo. Hours of analyst time per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With the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Same answer, memo-quality, in seconds. Same dataset, same numbers — different velocity.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Why it matters for Avelabs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Avelabs sells decision intelligence. This agent is a working demonstration of the kind of system Avelabs builds for clients.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Three layers · 4 deterministic tools · 1 LLM rendering layer</a:t>
            </a:r>
          </a:p>
        </p:txBody>
      </p:sp>
      <p:pic>
        <p:nvPicPr>
          <p:cNvPr id="6" name="Picture 5" descr="chart22_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47120" cy="64518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B66"/>
                </a:solidFill>
                <a:latin typeface="Calibri"/>
              </a:rPr>
              <a:t>The LLM renders. The tools decide. Every output traces back to the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4 DETERMINISTIC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Each tool is data-grounded — no tool can produce a number not computed from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9144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1064240" cy="914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tool_persona_summary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Returns: count · revenue · share · avg M/F/R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37160" cy="9144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11064240" cy="914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1576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tool_churn_alert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Returns: at-risk count · top-5 customers to recover · revenue at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37160" cy="914400"/>
          </a:xfrm>
          <a:prstGeom prst="rect">
            <a:avLst/>
          </a:prstGeom>
          <a:solidFill>
            <a:srgbClr val="3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11064240" cy="914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tool_revenue_opportunity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Returns: per-customer migration lift · realistic 10% upside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137160" cy="91440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11064240" cy="914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1888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tool_campaign_recommendation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Returns: named campaign · channel · budget tier · KPIs ·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DESIGN PRINCIPLE — NO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 i="1">
                <a:solidFill>
                  <a:srgbClr val="0B2A4A"/>
                </a:solidFill>
                <a:latin typeface="Calibri"/>
              </a:rPr>
              <a:t>"The LLM renders. It does not decide."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8503920" cy="457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Numerical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Pre-computed by tools · LLM receives structured dict · cannot fabricate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520440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Mandated 6-bullet structure: who they are · why they matter · top risk · top opportunity · campaign ·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297680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CMO-ready, no jargon, every claim tied to a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Failure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074920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Output validator rejects any £-figure not in input dict — fail-closed to deterministic renderer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SAMPLE OUTPUT — VIP B2B ACCOUNTS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Executive brief, deterministically rendered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Who they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8686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689 customers (15.9% of base). Avg historical value £7,755, 14.0 orders avg, 11 days recency.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Why they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8686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£5,343,349 (60.1% of total revenue). The CRM budget must respect this concentration.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Top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91840"/>
            <a:ext cx="8686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40 customers crossed the 30-day dormancy line · £285,316 of historical revenue at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Recommended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06240"/>
            <a:ext cx="8686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Named Account Program · priority HIGHEST · Account Manager + personalized email · highest per-customer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120640"/>
            <a:ext cx="8686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Account retention rate · revenue per account YoY · 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55B66"/>
                </a:solidFill>
                <a:latin typeface="Calibri"/>
              </a:rPr>
              <a:t>Full 5 briefs in reports/agent_sample_outputs.md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REVENUE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Migration economics — what 10% migration is worth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01752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From persona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554480"/>
            <a:ext cx="301752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184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 persona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54480"/>
            <a:ext cx="164592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18488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201168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18488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Per-customer lift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1554480"/>
            <a:ext cx="219456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1618488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10% migration upside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6596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30552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Loyal Repeat Buyers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96596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130552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VIP B2B Accounts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965960"/>
            <a:ext cx="16459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30552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0" i="0">
                <a:solidFill>
                  <a:srgbClr val="0B2A4A"/>
                </a:solidFill>
                <a:latin typeface="Calibri"/>
              </a:rPr>
              <a:t>899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965960"/>
            <a:ext cx="201168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13055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£5,241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965960"/>
            <a:ext cx="219456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130552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£471,182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1460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679192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Engaged New Buyers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51460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679192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Loyal Repeat Buyers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51460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679192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0" i="0">
                <a:solidFill>
                  <a:srgbClr val="0B2A4A"/>
                </a:solidFill>
                <a:latin typeface="Calibri"/>
              </a:rPr>
              <a:t>1,140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51460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67919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£1,915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2514600"/>
            <a:ext cx="2194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2679192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£218,260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6324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27832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Casual Low-Value Buyers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306324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3227832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Engaged New Buyers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063240"/>
            <a:ext cx="16459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227832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0" i="0">
                <a:solidFill>
                  <a:srgbClr val="0B2A4A"/>
                </a:solidFill>
                <a:latin typeface="Calibri"/>
              </a:rPr>
              <a:t>807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3063240"/>
            <a:ext cx="201168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2278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£9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3063240"/>
            <a:ext cx="219456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3227832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£760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1">
                <a:solidFill>
                  <a:srgbClr val="1F6FB5"/>
                </a:solidFill>
                <a:latin typeface="Calibri"/>
              </a:rPr>
              <a:t>Realistic uplift in customer-tier migration is the quietest, largest revenue line in this segmentation.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4864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The agent surfaces this number in seconds — without it, this question requires a manual ad-hoc analysis every time someone asks 'where's the upside?'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GUARDRAILS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Production-ready · auditable · cost-controlled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LLM fabricates a number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554480"/>
            <a:ext cx="758952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7335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Validator rejects any £-figure not in tool 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LLM contradicts the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148840"/>
            <a:ext cx="758952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26771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Weekly golden-set regression vs. deterministic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Stale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743200"/>
            <a:ext cx="758952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86207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Cache TTL 24h · manual refresh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5643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Cost overrun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337560"/>
            <a:ext cx="758952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45643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Per-persona caching · only changed persona regenerates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931920"/>
            <a:ext cx="758952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5079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p95 &lt; 6s · tools run in ms · LLM call 2-5s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451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526280"/>
            <a:ext cx="758952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64515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Every tool call + LLM I/O logged for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Four versions · clean upgrade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8686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106424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V1 —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1">
                <a:solidFill>
                  <a:srgbClr val="0B2A4A"/>
                </a:solidFill>
                <a:latin typeface="Calibri"/>
              </a:rPr>
              <a:t>Prototype with deterministic rendering. Demonstrable. Reproducible.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37160" cy="868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106424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V2 —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1">
                <a:solidFill>
                  <a:srgbClr val="0B2A4A"/>
                </a:solidFill>
                <a:latin typeface="Calibri"/>
              </a:rPr>
              <a:t>Swap renderer with live LLM call. Single-function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37160" cy="868680"/>
          </a:xfrm>
          <a:prstGeom prst="rect">
            <a:avLst/>
          </a:prstGeom>
          <a:solidFill>
            <a:srgbClr val="3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106424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V3 — Multi-agent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1">
                <a:solidFill>
                  <a:srgbClr val="0B2A4A"/>
                </a:solidFill>
                <a:latin typeface="Calibri"/>
              </a:rPr>
              <a:t>Coordinator agent picks which persona to brief based on stakeholder query.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37160" cy="86868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1106424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4515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V4 — Predictive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1">
                <a:solidFill>
                  <a:srgbClr val="0B2A4A"/>
                </a:solidFill>
                <a:latin typeface="Calibri"/>
              </a:rPr>
              <a:t>Connect churn-prediction model (BG/NBD). Alerts surface BEFORE dormancy.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1">
                <a:solidFill>
                  <a:srgbClr val="1F6FB5"/>
                </a:solidFill>
                <a:latin typeface="Calibri"/>
              </a:rPr>
              <a:t>Almost no junior portfolio submission delivers a designed Agentic AI system. This one does.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